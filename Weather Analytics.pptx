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mbria Bold" charset="1" panose="02040803050406030204"/>
      <p:regular r:id="rId15"/>
    </p:embeddedFont>
    <p:embeddedFont>
      <p:font typeface="Calibri (MS) Bold" charset="1" panose="020F0702030404030204"/>
      <p:regular r:id="rId16"/>
    </p:embeddedFont>
    <p:embeddedFont>
      <p:font typeface="Calibri (MS)" charset="1" panose="020F0502020204030204"/>
      <p:regular r:id="rId17"/>
    </p:embeddedFont>
    <p:embeddedFont>
      <p:font typeface="Caladea Bold" charset="1" panose="02040803050406030204"/>
      <p:regular r:id="rId18"/>
    </p:embeddedFont>
    <p:embeddedFont>
      <p:font typeface="Carlito Bold" charset="1" panose="020F0502020204030204"/>
      <p:regular r:id="rId19"/>
    </p:embeddedFont>
    <p:embeddedFont>
      <p:font typeface="Carlito" charset="1" panose="020F0502020204030204"/>
      <p:regular r:id="rId20"/>
    </p:embeddedFont>
    <p:embeddedFont>
      <p:font typeface="Cambria" charset="1" panose="02040503050406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5968" r="0" b="-2596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864128" y="5110162"/>
            <a:ext cx="6492240" cy="0"/>
          </a:xfrm>
          <a:prstGeom prst="line">
            <a:avLst/>
          </a:prstGeom>
          <a:ln cap="flat" w="66675">
            <a:solidFill>
              <a:srgbClr val="F5F5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5400000">
            <a:off x="12365903" y="4889151"/>
            <a:ext cx="6914440" cy="6369928"/>
          </a:xfrm>
          <a:custGeom>
            <a:avLst/>
            <a:gdLst/>
            <a:ahLst/>
            <a:cxnLst/>
            <a:rect r="r" b="b" t="t" l="l"/>
            <a:pathLst>
              <a:path h="6369928" w="6914440">
                <a:moveTo>
                  <a:pt x="0" y="0"/>
                </a:moveTo>
                <a:lnTo>
                  <a:pt x="6914440" y="0"/>
                </a:lnTo>
                <a:lnTo>
                  <a:pt x="6914440" y="6369928"/>
                </a:lnTo>
                <a:lnTo>
                  <a:pt x="0" y="63699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64128" y="2194112"/>
            <a:ext cx="13978865" cy="130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99"/>
              </a:lnSpc>
            </a:pPr>
            <a:r>
              <a:rPr lang="en-US" b="true" sz="9999">
                <a:solidFill>
                  <a:srgbClr val="F5F5F5"/>
                </a:solidFill>
                <a:latin typeface="Cambria Bold"/>
                <a:ea typeface="Cambria Bold"/>
                <a:cs typeface="Cambria Bold"/>
                <a:sym typeface="Cambria Bold"/>
              </a:rPr>
              <a:t>WEATHER ANALYTICS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64128" y="3657786"/>
            <a:ext cx="10774031" cy="959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8"/>
              </a:lnSpc>
            </a:pPr>
            <a:r>
              <a:rPr lang="en-US" b="true" sz="7400">
                <a:solidFill>
                  <a:srgbClr val="B7BEE6"/>
                </a:solidFill>
                <a:latin typeface="Cambria Bold"/>
                <a:ea typeface="Cambria Bold"/>
                <a:cs typeface="Cambria Bold"/>
                <a:sym typeface="Cambria Bold"/>
              </a:rPr>
              <a:t>DATA PIPELINE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64128" y="5514975"/>
            <a:ext cx="2885926" cy="61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Prachi Trivedi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5400000">
            <a:off x="-1608982" y="-1830064"/>
            <a:ext cx="4522941" cy="4166759"/>
          </a:xfrm>
          <a:custGeom>
            <a:avLst/>
            <a:gdLst/>
            <a:ahLst/>
            <a:cxnLst/>
            <a:rect r="r" b="b" t="t" l="l"/>
            <a:pathLst>
              <a:path h="4166759" w="4522941">
                <a:moveTo>
                  <a:pt x="0" y="0"/>
                </a:moveTo>
                <a:lnTo>
                  <a:pt x="4522941" y="0"/>
                </a:lnTo>
                <a:lnTo>
                  <a:pt x="4522941" y="4166759"/>
                </a:lnTo>
                <a:lnTo>
                  <a:pt x="0" y="4166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1722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39"/>
                </a:lnSpc>
              </a:pPr>
              <a:r>
                <a:rPr lang="en-US" sz="57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Design Decisions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116455"/>
            <a:ext cx="8042910" cy="3516630"/>
            <a:chOff x="0" y="0"/>
            <a:chExt cx="10723880" cy="4688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23880" cy="4688840"/>
            </a:xfrm>
            <a:custGeom>
              <a:avLst/>
              <a:gdLst/>
              <a:ahLst/>
              <a:cxnLst/>
              <a:rect r="r" b="b" t="t" l="l"/>
              <a:pathLst>
                <a:path h="4688840" w="1072388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10503281" y="0"/>
                  </a:lnTo>
                  <a:cubicBezTo>
                    <a:pt x="10625201" y="0"/>
                    <a:pt x="10723880" y="98806"/>
                    <a:pt x="10723880" y="220599"/>
                  </a:cubicBezTo>
                  <a:lnTo>
                    <a:pt x="10723880" y="4468241"/>
                  </a:lnTo>
                  <a:cubicBezTo>
                    <a:pt x="10723880" y="4590161"/>
                    <a:pt x="10625075" y="4688840"/>
                    <a:pt x="10503281" y="4688840"/>
                  </a:cubicBezTo>
                  <a:lnTo>
                    <a:pt x="220599" y="4688840"/>
                  </a:lnTo>
                  <a:cubicBezTo>
                    <a:pt x="98806" y="4688840"/>
                    <a:pt x="0" y="4590034"/>
                    <a:pt x="0" y="44682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AF0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34440" y="2269617"/>
            <a:ext cx="754380" cy="754380"/>
            <a:chOff x="0" y="0"/>
            <a:chExt cx="100584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34440" y="2269617"/>
            <a:ext cx="754380" cy="754380"/>
            <a:chOff x="0" y="0"/>
            <a:chExt cx="1005840" cy="1005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0584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63140" y="2269617"/>
            <a:ext cx="6240780" cy="754380"/>
            <a:chOff x="0" y="0"/>
            <a:chExt cx="832104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3210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194" r="0" b="-11119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83210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Three contrasting cities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60170" y="3115436"/>
            <a:ext cx="6949440" cy="219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150"/>
              </a:lnSpc>
              <a:buAutoNum type="arabicPeriod" startAt="1"/>
            </a:pPr>
            <a:r>
              <a:rPr lang="en-US" sz="25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San Francisco – coastal</a:t>
            </a:r>
          </a:p>
          <a:p>
            <a:pPr algn="l" marL="539751" indent="-269876" lvl="1">
              <a:lnSpc>
                <a:spcPts val="3150"/>
              </a:lnSpc>
              <a:buAutoNum type="arabicPeriod" startAt="1"/>
            </a:pPr>
            <a:r>
              <a:rPr lang="en-US" sz="25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Mesa – desert</a:t>
            </a:r>
          </a:p>
          <a:p>
            <a:pPr algn="l" marL="539751" indent="-269876" lvl="1">
              <a:lnSpc>
                <a:spcPts val="3150"/>
              </a:lnSpc>
              <a:buAutoNum type="arabicPeriod" startAt="1"/>
            </a:pPr>
            <a:r>
              <a:rPr lang="en-US" sz="25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Seattle — rainy </a:t>
            </a:r>
          </a:p>
          <a:p>
            <a:pPr algn="l">
              <a:lnSpc>
                <a:spcPts val="630"/>
              </a:lnSpc>
            </a:pPr>
          </a:p>
          <a:p>
            <a:pPr algn="l">
              <a:lnSpc>
                <a:spcPts val="630"/>
              </a:lnSpc>
            </a:pPr>
          </a:p>
          <a:p>
            <a:pPr algn="l">
              <a:lnSpc>
                <a:spcPts val="3150"/>
              </a:lnSpc>
            </a:pPr>
            <a:r>
              <a:rPr lang="en-US" sz="25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Deliberately different climates so the analytics reveal real contrast.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385935" y="2116455"/>
            <a:ext cx="8042910" cy="3516630"/>
            <a:chOff x="0" y="0"/>
            <a:chExt cx="10723880" cy="4688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23880" cy="4688840"/>
            </a:xfrm>
            <a:custGeom>
              <a:avLst/>
              <a:gdLst/>
              <a:ahLst/>
              <a:cxnLst/>
              <a:rect r="r" b="b" t="t" l="l"/>
              <a:pathLst>
                <a:path h="4688840" w="1072388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10503281" y="0"/>
                  </a:lnTo>
                  <a:cubicBezTo>
                    <a:pt x="10625201" y="0"/>
                    <a:pt x="10723880" y="98806"/>
                    <a:pt x="10723880" y="220599"/>
                  </a:cubicBezTo>
                  <a:lnTo>
                    <a:pt x="10723880" y="4468241"/>
                  </a:lnTo>
                  <a:cubicBezTo>
                    <a:pt x="10723880" y="4590161"/>
                    <a:pt x="10625075" y="4688840"/>
                    <a:pt x="10503281" y="4688840"/>
                  </a:cubicBezTo>
                  <a:lnTo>
                    <a:pt x="220599" y="4688840"/>
                  </a:lnTo>
                  <a:cubicBezTo>
                    <a:pt x="98806" y="4688840"/>
                    <a:pt x="0" y="4590034"/>
                    <a:pt x="0" y="44682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AF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806940" y="2269617"/>
            <a:ext cx="754380" cy="754380"/>
            <a:chOff x="0" y="0"/>
            <a:chExt cx="1005840" cy="10058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806940" y="2269617"/>
            <a:ext cx="754380" cy="754380"/>
            <a:chOff x="0" y="0"/>
            <a:chExt cx="1005840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0584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932670" y="3115436"/>
            <a:ext cx="694944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Pulled data at the level I analyze at</a:t>
            </a:r>
          </a:p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Hourly would be 24× the rows for no added value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3435" y="5956935"/>
            <a:ext cx="8042910" cy="3516630"/>
            <a:chOff x="0" y="0"/>
            <a:chExt cx="10723880" cy="4688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23880" cy="4688840"/>
            </a:xfrm>
            <a:custGeom>
              <a:avLst/>
              <a:gdLst/>
              <a:ahLst/>
              <a:cxnLst/>
              <a:rect r="r" b="b" t="t" l="l"/>
              <a:pathLst>
                <a:path h="4688840" w="1072388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10503281" y="0"/>
                  </a:lnTo>
                  <a:cubicBezTo>
                    <a:pt x="10625201" y="0"/>
                    <a:pt x="10723880" y="98806"/>
                    <a:pt x="10723880" y="220599"/>
                  </a:cubicBezTo>
                  <a:lnTo>
                    <a:pt x="10723880" y="4468241"/>
                  </a:lnTo>
                  <a:cubicBezTo>
                    <a:pt x="10723880" y="4590161"/>
                    <a:pt x="10625075" y="4688840"/>
                    <a:pt x="10503281" y="4688840"/>
                  </a:cubicBezTo>
                  <a:lnTo>
                    <a:pt x="220599" y="4688840"/>
                  </a:lnTo>
                  <a:cubicBezTo>
                    <a:pt x="98806" y="4688840"/>
                    <a:pt x="0" y="4590034"/>
                    <a:pt x="0" y="44682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AF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440" y="6118860"/>
            <a:ext cx="754380" cy="754380"/>
            <a:chOff x="0" y="0"/>
            <a:chExt cx="100584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34440" y="6118860"/>
            <a:ext cx="754380" cy="754380"/>
            <a:chOff x="0" y="0"/>
            <a:chExt cx="1005840" cy="1005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00584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263140" y="6118860"/>
            <a:ext cx="6240780" cy="754380"/>
            <a:chOff x="0" y="0"/>
            <a:chExt cx="8321040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3210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194" r="0" b="-111194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83210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Normalized schema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360170" y="7093077"/>
            <a:ext cx="694944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Cities table</a:t>
            </a:r>
          </a:p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Daily</a:t>
            </a:r>
            <a:r>
              <a:rPr lang="en-US" sz="24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 records table ⟶ linked by foreign keys</a:t>
            </a:r>
          </a:p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No repeated city info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385935" y="5956935"/>
            <a:ext cx="8042910" cy="3516630"/>
            <a:chOff x="0" y="0"/>
            <a:chExt cx="10723880" cy="4688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23880" cy="4688840"/>
            </a:xfrm>
            <a:custGeom>
              <a:avLst/>
              <a:gdLst/>
              <a:ahLst/>
              <a:cxnLst/>
              <a:rect r="r" b="b" t="t" l="l"/>
              <a:pathLst>
                <a:path h="4688840" w="10723880">
                  <a:moveTo>
                    <a:pt x="0" y="220599"/>
                  </a:moveTo>
                  <a:cubicBezTo>
                    <a:pt x="0" y="98806"/>
                    <a:pt x="98806" y="0"/>
                    <a:pt x="220599" y="0"/>
                  </a:cubicBezTo>
                  <a:lnTo>
                    <a:pt x="10503281" y="0"/>
                  </a:lnTo>
                  <a:cubicBezTo>
                    <a:pt x="10625201" y="0"/>
                    <a:pt x="10723880" y="98806"/>
                    <a:pt x="10723880" y="220599"/>
                  </a:cubicBezTo>
                  <a:lnTo>
                    <a:pt x="10723880" y="4468241"/>
                  </a:lnTo>
                  <a:cubicBezTo>
                    <a:pt x="10723880" y="4590161"/>
                    <a:pt x="10625075" y="4688840"/>
                    <a:pt x="10503281" y="4688840"/>
                  </a:cubicBezTo>
                  <a:lnTo>
                    <a:pt x="220599" y="4688840"/>
                  </a:lnTo>
                  <a:cubicBezTo>
                    <a:pt x="98806" y="4688840"/>
                    <a:pt x="0" y="4590034"/>
                    <a:pt x="0" y="44682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AF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806940" y="6118860"/>
            <a:ext cx="754380" cy="754380"/>
            <a:chOff x="0" y="0"/>
            <a:chExt cx="100584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806940" y="6118860"/>
            <a:ext cx="754380" cy="754380"/>
            <a:chOff x="0" y="0"/>
            <a:chExt cx="1005840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1005840" cy="107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837545" y="6118860"/>
            <a:ext cx="6240780" cy="754380"/>
            <a:chOff x="0" y="0"/>
            <a:chExt cx="8321040" cy="1005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3210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1194" r="0" b="-11119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832104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Forecast kept separate (retrieved_on)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9932670" y="7093077"/>
            <a:ext cx="694944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K</a:t>
            </a:r>
            <a:r>
              <a:rPr lang="en-US" sz="24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eyed by WHEN the forecast was made</a:t>
            </a:r>
          </a:p>
          <a:p>
            <a:pPr algn="l" marL="539749" indent="-269875" lvl="1">
              <a:lnSpc>
                <a:spcPts val="3149"/>
              </a:lnSpc>
              <a:buFont typeface="Arial"/>
              <a:buChar char="•"/>
            </a:pPr>
            <a:r>
              <a:rPr lang="en-US" sz="2499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Historical facts don't change ⟶ no need for retrieval date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837545" y="2376297"/>
            <a:ext cx="3381821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b="true" sz="2700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Daily data, not hourly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43250" y="9350619"/>
            <a:ext cx="342900" cy="211015"/>
            <a:chOff x="0" y="0"/>
            <a:chExt cx="247650" cy="152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650" cy="152400"/>
            </a:xfrm>
            <a:custGeom>
              <a:avLst/>
              <a:gdLst/>
              <a:ahLst/>
              <a:cxnLst/>
              <a:rect r="r" b="b" t="t" l="l"/>
              <a:pathLst>
                <a:path h="152400" w="247650">
                  <a:moveTo>
                    <a:pt x="38100" y="0"/>
                  </a:moveTo>
                  <a:lnTo>
                    <a:pt x="209550" y="0"/>
                  </a:lnTo>
                  <a:cubicBezTo>
                    <a:pt x="230632" y="0"/>
                    <a:pt x="247650" y="21082"/>
                    <a:pt x="247650" y="38100"/>
                  </a:cubicBezTo>
                  <a:lnTo>
                    <a:pt x="247650" y="114300"/>
                  </a:lnTo>
                  <a:cubicBezTo>
                    <a:pt x="247650" y="135382"/>
                    <a:pt x="230632" y="152400"/>
                    <a:pt x="209550" y="152400"/>
                  </a:cubicBezTo>
                  <a:lnTo>
                    <a:pt x="38100" y="152400"/>
                  </a:lnTo>
                  <a:cubicBezTo>
                    <a:pt x="17018" y="152400"/>
                    <a:pt x="0" y="131318"/>
                    <a:pt x="0" y="114300"/>
                  </a:cubicBezTo>
                  <a:lnTo>
                    <a:pt x="0" y="38100"/>
                  </a:ln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57750" y="9350619"/>
            <a:ext cx="342900" cy="211015"/>
            <a:chOff x="0" y="0"/>
            <a:chExt cx="247650" cy="15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7650" cy="152400"/>
            </a:xfrm>
            <a:custGeom>
              <a:avLst/>
              <a:gdLst/>
              <a:ahLst/>
              <a:cxnLst/>
              <a:rect r="r" b="b" t="t" l="l"/>
              <a:pathLst>
                <a:path h="152400" w="247650">
                  <a:moveTo>
                    <a:pt x="38100" y="0"/>
                  </a:moveTo>
                  <a:lnTo>
                    <a:pt x="209550" y="0"/>
                  </a:lnTo>
                  <a:cubicBezTo>
                    <a:pt x="230632" y="0"/>
                    <a:pt x="247650" y="21082"/>
                    <a:pt x="247650" y="38100"/>
                  </a:cubicBezTo>
                  <a:lnTo>
                    <a:pt x="247650" y="114300"/>
                  </a:lnTo>
                  <a:cubicBezTo>
                    <a:pt x="247650" y="135382"/>
                    <a:pt x="230632" y="152400"/>
                    <a:pt x="209550" y="152400"/>
                  </a:cubicBezTo>
                  <a:lnTo>
                    <a:pt x="38100" y="152400"/>
                  </a:lnTo>
                  <a:cubicBezTo>
                    <a:pt x="17018" y="152400"/>
                    <a:pt x="0" y="131318"/>
                    <a:pt x="0" y="114300"/>
                  </a:cubicBezTo>
                  <a:lnTo>
                    <a:pt x="0" y="38100"/>
                  </a:ln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38192" y="9350619"/>
            <a:ext cx="342900" cy="211015"/>
            <a:chOff x="0" y="0"/>
            <a:chExt cx="247650" cy="152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7650" cy="152400"/>
            </a:xfrm>
            <a:custGeom>
              <a:avLst/>
              <a:gdLst/>
              <a:ahLst/>
              <a:cxnLst/>
              <a:rect r="r" b="b" t="t" l="l"/>
              <a:pathLst>
                <a:path h="152400" w="247650">
                  <a:moveTo>
                    <a:pt x="38100" y="0"/>
                  </a:moveTo>
                  <a:lnTo>
                    <a:pt x="209550" y="0"/>
                  </a:lnTo>
                  <a:cubicBezTo>
                    <a:pt x="230632" y="0"/>
                    <a:pt x="247650" y="21082"/>
                    <a:pt x="247650" y="38100"/>
                  </a:cubicBezTo>
                  <a:lnTo>
                    <a:pt x="247650" y="114300"/>
                  </a:lnTo>
                  <a:cubicBezTo>
                    <a:pt x="247650" y="135382"/>
                    <a:pt x="230632" y="152400"/>
                    <a:pt x="209550" y="152400"/>
                  </a:cubicBezTo>
                  <a:lnTo>
                    <a:pt x="38100" y="152400"/>
                  </a:lnTo>
                  <a:cubicBezTo>
                    <a:pt x="17018" y="152400"/>
                    <a:pt x="0" y="131318"/>
                    <a:pt x="0" y="114300"/>
                  </a:cubicBezTo>
                  <a:lnTo>
                    <a:pt x="0" y="38100"/>
                  </a:lnTo>
                  <a:cubicBezTo>
                    <a:pt x="0" y="17018"/>
                    <a:pt x="17018" y="0"/>
                    <a:pt x="38100" y="0"/>
                  </a:cubicBezTo>
                  <a:close/>
                </a:path>
              </a:pathLst>
            </a:custGeom>
            <a:solidFill>
              <a:srgbClr val="5A6B7B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191478" y="1619978"/>
            <a:ext cx="14069886" cy="8517544"/>
          </a:xfrm>
          <a:custGeom>
            <a:avLst/>
            <a:gdLst/>
            <a:ahLst/>
            <a:cxnLst/>
            <a:rect r="r" b="b" t="t" l="l"/>
            <a:pathLst>
              <a:path h="8517544" w="14069886">
                <a:moveTo>
                  <a:pt x="0" y="0"/>
                </a:moveTo>
                <a:lnTo>
                  <a:pt x="14069886" y="0"/>
                </a:lnTo>
                <a:lnTo>
                  <a:pt x="14069886" y="8517544"/>
                </a:lnTo>
                <a:lnTo>
                  <a:pt x="0" y="85175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62319" y="5331676"/>
            <a:ext cx="674871" cy="216563"/>
          </a:xfrm>
          <a:custGeom>
            <a:avLst/>
            <a:gdLst/>
            <a:ahLst/>
            <a:cxnLst/>
            <a:rect r="r" b="b" t="t" l="l"/>
            <a:pathLst>
              <a:path h="216563" w="674871">
                <a:moveTo>
                  <a:pt x="0" y="0"/>
                </a:moveTo>
                <a:lnTo>
                  <a:pt x="674871" y="0"/>
                </a:lnTo>
                <a:lnTo>
                  <a:pt x="674871" y="216563"/>
                </a:lnTo>
                <a:lnTo>
                  <a:pt x="0" y="2165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880839" y="9099639"/>
            <a:ext cx="5871633" cy="809880"/>
          </a:xfrm>
          <a:custGeom>
            <a:avLst/>
            <a:gdLst/>
            <a:ahLst/>
            <a:cxnLst/>
            <a:rect r="r" b="b" t="t" l="l"/>
            <a:pathLst>
              <a:path h="809880" w="5871633">
                <a:moveTo>
                  <a:pt x="0" y="0"/>
                </a:moveTo>
                <a:lnTo>
                  <a:pt x="5871634" y="0"/>
                </a:lnTo>
                <a:lnTo>
                  <a:pt x="5871634" y="809881"/>
                </a:lnTo>
                <a:lnTo>
                  <a:pt x="0" y="8098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3825" y="89677"/>
            <a:ext cx="7871863" cy="61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3"/>
              </a:lnSpc>
            </a:pPr>
            <a:r>
              <a:rPr lang="en-US" b="true" sz="3530">
                <a:solidFill>
                  <a:srgbClr val="21295C"/>
                </a:solidFill>
                <a:latin typeface="Caladea Bold"/>
                <a:ea typeface="Caladea Bold"/>
                <a:cs typeface="Caladea Bold"/>
                <a:sym typeface="Caladea Bold"/>
              </a:rPr>
              <a:t>Database</a:t>
            </a:r>
            <a:r>
              <a:rPr lang="en-US" b="true" sz="3530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 </a:t>
            </a:r>
            <a:r>
              <a:rPr lang="en-US" b="true" sz="3530">
                <a:solidFill>
                  <a:srgbClr val="21295C"/>
                </a:solidFill>
                <a:latin typeface="Caladea Bold"/>
                <a:ea typeface="Caladea Bold"/>
                <a:cs typeface="Caladea Bold"/>
                <a:sym typeface="Caladea Bold"/>
              </a:rPr>
              <a:t>Schema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76429" y="3927377"/>
            <a:ext cx="280176" cy="222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9"/>
              </a:lnSpc>
            </a:pPr>
            <a:r>
              <a:rPr lang="en-US" b="true" sz="1142" spc="258">
                <a:solidFill>
                  <a:srgbClr val="1C7293"/>
                </a:solidFill>
                <a:latin typeface="Carlito Bold"/>
                <a:ea typeface="Carlito Bold"/>
                <a:cs typeface="Carlito Bold"/>
                <a:sym typeface="Carlito Bold"/>
              </a:rPr>
              <a:t>1:N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76429" y="6367243"/>
            <a:ext cx="280176" cy="222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9"/>
              </a:lnSpc>
            </a:pPr>
            <a:r>
              <a:rPr lang="en-US" b="true" sz="1142" spc="258">
                <a:solidFill>
                  <a:srgbClr val="065A82"/>
                </a:solidFill>
                <a:latin typeface="Carlito Bold"/>
                <a:ea typeface="Carlito Bold"/>
                <a:cs typeface="Carlito Bold"/>
                <a:sym typeface="Carlito Bold"/>
              </a:rPr>
              <a:t>1:N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29715" y="4422921"/>
            <a:ext cx="610349" cy="34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</a:pPr>
            <a:r>
              <a:rPr lang="en-US" b="true" sz="197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cities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28622" y="1785228"/>
            <a:ext cx="958221" cy="34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</a:pPr>
            <a:r>
              <a:rPr lang="en-US" b="true" sz="197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weather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42773" y="6664959"/>
            <a:ext cx="924221" cy="345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2"/>
              </a:lnSpc>
            </a:pPr>
            <a:r>
              <a:rPr lang="en-US" b="true" sz="1973">
                <a:solidFill>
                  <a:srgbClr val="FFFFFF"/>
                </a:solidFill>
                <a:latin typeface="Caladea Bold"/>
                <a:ea typeface="Caladea Bold"/>
                <a:cs typeface="Caladea Bold"/>
                <a:sym typeface="Caladea Bold"/>
              </a:rPr>
              <a:t>forecast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25590" y="4875692"/>
            <a:ext cx="161387" cy="310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96"/>
              </a:lnSpc>
            </a:pPr>
            <a:r>
              <a:rPr lang="en-US" b="true" sz="1038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PK </a:t>
            </a:r>
            <a:r>
              <a:rPr lang="en-US" sz="1038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19046" y="4832710"/>
            <a:ext cx="741271" cy="34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b="true" sz="1349">
                <a:solidFill>
                  <a:srgbClr val="1B2A3A"/>
                </a:solidFill>
                <a:latin typeface="Carlito Bold"/>
                <a:ea typeface="Carlito Bold"/>
                <a:cs typeface="Carlito Bold"/>
                <a:sym typeface="Carlito Bold"/>
              </a:rPr>
              <a:t>city_id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71997" y="5188801"/>
            <a:ext cx="817685" cy="1060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1349">
                <a:solidFill>
                  <a:srgbClr val="1B2A3A"/>
                </a:solidFill>
                <a:latin typeface="Carlito"/>
                <a:ea typeface="Carlito"/>
                <a:cs typeface="Carlito"/>
                <a:sym typeface="Carlito"/>
              </a:rPr>
              <a:t>city_name</a:t>
            </a:r>
          </a:p>
          <a:p>
            <a:pPr algn="l">
              <a:lnSpc>
                <a:spcPts val="2803"/>
              </a:lnSpc>
            </a:pPr>
            <a:r>
              <a:rPr lang="en-US" sz="1349">
                <a:solidFill>
                  <a:srgbClr val="1B2A3A"/>
                </a:solidFill>
                <a:latin typeface="Carlito"/>
                <a:ea typeface="Carlito"/>
                <a:cs typeface="Carlito"/>
                <a:sym typeface="Carlito"/>
              </a:rPr>
              <a:t>longitude latitude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13473" y="7100759"/>
            <a:ext cx="145165" cy="71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96"/>
              </a:lnSpc>
            </a:pPr>
            <a:r>
              <a:rPr lang="en-US" b="true" sz="1038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PK FK</a:t>
            </a:r>
            <a:r>
              <a:rPr lang="en-US" sz="1038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91546" y="7074748"/>
            <a:ext cx="813346" cy="70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b="true" sz="1349">
                <a:solidFill>
                  <a:srgbClr val="1B2A3A"/>
                </a:solidFill>
                <a:latin typeface="Carlito Bold"/>
                <a:ea typeface="Carlito Bold"/>
                <a:cs typeface="Carlito Bold"/>
                <a:sym typeface="Carlito Bold"/>
              </a:rPr>
              <a:t>forecast_id</a:t>
            </a:r>
          </a:p>
          <a:p>
            <a:pPr algn="l">
              <a:lnSpc>
                <a:spcPts val="2803"/>
              </a:lnSpc>
            </a:pPr>
            <a:r>
              <a:rPr lang="en-US" sz="1349">
                <a:solidFill>
                  <a:srgbClr val="1B2A3A"/>
                </a:solidFill>
                <a:latin typeface="Carlito"/>
                <a:ea typeface="Carlito"/>
                <a:cs typeface="Carlito"/>
                <a:sym typeface="Carlito"/>
              </a:rPr>
              <a:t>city_id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069515" y="7784525"/>
            <a:ext cx="923746" cy="2129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1349">
                <a:solidFill>
                  <a:srgbClr val="1B2A3A"/>
                </a:solidFill>
                <a:latin typeface="Carlito"/>
                <a:ea typeface="Carlito"/>
                <a:cs typeface="Carlito"/>
                <a:sym typeface="Carlito"/>
              </a:rPr>
              <a:t>record_date retrieved_on max_temp precipitation sunrise sunset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13473" y="2230553"/>
            <a:ext cx="145165" cy="713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96"/>
              </a:lnSpc>
            </a:pPr>
            <a:r>
              <a:rPr lang="en-US" b="true" sz="1038">
                <a:solidFill>
                  <a:srgbClr val="FFFFFF"/>
                </a:solidFill>
                <a:latin typeface="Carlito Bold"/>
                <a:ea typeface="Carlito Bold"/>
                <a:cs typeface="Carlito Bold"/>
                <a:sym typeface="Carlito Bold"/>
              </a:rPr>
              <a:t>PK FK</a:t>
            </a:r>
            <a:r>
              <a:rPr lang="en-US" sz="1038">
                <a:solidFill>
                  <a:srgbClr val="FFFFFF"/>
                </a:solidFill>
                <a:latin typeface="Carlito"/>
                <a:ea typeface="Carlito"/>
                <a:cs typeface="Carlito"/>
                <a:sym typeface="Carlito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91546" y="2195017"/>
            <a:ext cx="833234" cy="70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b="true" sz="1349">
                <a:solidFill>
                  <a:srgbClr val="1B2A3A"/>
                </a:solidFill>
                <a:latin typeface="Carlito Bold"/>
                <a:ea typeface="Carlito Bold"/>
                <a:cs typeface="Carlito Bold"/>
                <a:sym typeface="Carlito Bold"/>
              </a:rPr>
              <a:t>weather_id</a:t>
            </a:r>
          </a:p>
          <a:p>
            <a:pPr algn="l">
              <a:lnSpc>
                <a:spcPts val="2803"/>
              </a:lnSpc>
            </a:pPr>
            <a:r>
              <a:rPr lang="en-US" sz="1349">
                <a:solidFill>
                  <a:srgbClr val="1B2A3A"/>
                </a:solidFill>
                <a:latin typeface="Carlito"/>
                <a:ea typeface="Carlito"/>
                <a:cs typeface="Carlito"/>
                <a:sym typeface="Carlito"/>
              </a:rPr>
              <a:t>city_id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069515" y="2904794"/>
            <a:ext cx="1500306" cy="319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3"/>
              </a:lnSpc>
            </a:pPr>
            <a:r>
              <a:rPr lang="en-US" sz="1349">
                <a:solidFill>
                  <a:srgbClr val="1B2A3A"/>
                </a:solidFill>
                <a:latin typeface="Carlito"/>
                <a:ea typeface="Carlito"/>
                <a:cs typeface="Carlito"/>
                <a:sym typeface="Carlito"/>
              </a:rPr>
              <a:t>weather_date max_temp min_temp max_apparent_temp min_apparent_temp max_wind_speed precipitation</a:t>
            </a:r>
          </a:p>
          <a:p>
            <a:pPr algn="l">
              <a:lnSpc>
                <a:spcPts val="2803"/>
              </a:lnSpc>
            </a:pPr>
            <a:r>
              <a:rPr lang="en-US" sz="1349">
                <a:solidFill>
                  <a:srgbClr val="1B2A3A"/>
                </a:solidFill>
                <a:latin typeface="Carlito"/>
                <a:ea typeface="Carlito"/>
                <a:cs typeface="Carlito"/>
                <a:sym typeface="Carlito"/>
              </a:rPr>
              <a:t>sunrise</a:t>
            </a:r>
          </a:p>
          <a:p>
            <a:pPr algn="l">
              <a:lnSpc>
                <a:spcPts val="2803"/>
              </a:lnSpc>
            </a:pPr>
            <a:r>
              <a:rPr lang="en-US" sz="1349">
                <a:solidFill>
                  <a:srgbClr val="1B2A3A"/>
                </a:solidFill>
                <a:latin typeface="Carlito"/>
                <a:ea typeface="Carlito"/>
                <a:cs typeface="Carlito"/>
                <a:sym typeface="Carlito"/>
              </a:rPr>
              <a:t>sunset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54194" y="4820620"/>
            <a:ext cx="526035" cy="1422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4"/>
              </a:lnSpc>
            </a:pPr>
            <a:r>
              <a:rPr lang="en-US" sz="1194">
                <a:solidFill>
                  <a:srgbClr val="5A6B7B"/>
                </a:solidFill>
                <a:latin typeface="Carlito"/>
                <a:ea typeface="Carlito"/>
                <a:cs typeface="Carlito"/>
                <a:sym typeface="Carlito"/>
              </a:rPr>
              <a:t>serial varchar numeric numeric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262483" y="2182928"/>
            <a:ext cx="684666" cy="3915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4"/>
              </a:lnSpc>
            </a:pPr>
            <a:r>
              <a:rPr lang="en-US" sz="1194">
                <a:solidFill>
                  <a:srgbClr val="5A6B7B"/>
                </a:solidFill>
                <a:latin typeface="Carlito"/>
                <a:ea typeface="Carlito"/>
                <a:cs typeface="Carlito"/>
                <a:sym typeface="Carlito"/>
              </a:rPr>
              <a:t>serial</a:t>
            </a:r>
          </a:p>
          <a:p>
            <a:pPr algn="r">
              <a:lnSpc>
                <a:spcPts val="2804"/>
              </a:lnSpc>
            </a:pPr>
            <a:r>
              <a:rPr lang="en-US" sz="1194">
                <a:solidFill>
                  <a:srgbClr val="5A6B7B"/>
                </a:solidFill>
                <a:latin typeface="Carlito"/>
                <a:ea typeface="Carlito"/>
                <a:cs typeface="Carlito"/>
                <a:sym typeface="Carlito"/>
              </a:rPr>
              <a:t>int</a:t>
            </a:r>
          </a:p>
          <a:p>
            <a:pPr algn="r">
              <a:lnSpc>
                <a:spcPts val="2804"/>
              </a:lnSpc>
            </a:pPr>
            <a:r>
              <a:rPr lang="en-US" sz="1194">
                <a:solidFill>
                  <a:srgbClr val="5A6B7B"/>
                </a:solidFill>
                <a:latin typeface="Carlito"/>
                <a:ea typeface="Carlito"/>
                <a:cs typeface="Carlito"/>
                <a:sym typeface="Carlito"/>
              </a:rPr>
              <a:t>date numeric numeric numeric numeric numeric numeric timestamp timestamp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262483" y="7062659"/>
            <a:ext cx="684666" cy="2846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4"/>
              </a:lnSpc>
            </a:pPr>
            <a:r>
              <a:rPr lang="en-US" sz="1194">
                <a:solidFill>
                  <a:srgbClr val="5A6B7B"/>
                </a:solidFill>
                <a:latin typeface="Carlito"/>
                <a:ea typeface="Carlito"/>
                <a:cs typeface="Carlito"/>
                <a:sym typeface="Carlito"/>
              </a:rPr>
              <a:t>serial</a:t>
            </a:r>
          </a:p>
          <a:p>
            <a:pPr algn="r">
              <a:lnSpc>
                <a:spcPts val="2804"/>
              </a:lnSpc>
            </a:pPr>
            <a:r>
              <a:rPr lang="en-US" sz="1194">
                <a:solidFill>
                  <a:srgbClr val="5A6B7B"/>
                </a:solidFill>
                <a:latin typeface="Carlito"/>
                <a:ea typeface="Carlito"/>
                <a:cs typeface="Carlito"/>
                <a:sym typeface="Carlito"/>
              </a:rPr>
              <a:t>int</a:t>
            </a:r>
          </a:p>
          <a:p>
            <a:pPr algn="r">
              <a:lnSpc>
                <a:spcPts val="2804"/>
              </a:lnSpc>
            </a:pPr>
            <a:r>
              <a:rPr lang="en-US" sz="1194">
                <a:solidFill>
                  <a:srgbClr val="5A6B7B"/>
                </a:solidFill>
                <a:latin typeface="Carlito"/>
                <a:ea typeface="Carlito"/>
                <a:cs typeface="Carlito"/>
                <a:sym typeface="Carlito"/>
              </a:rPr>
              <a:t>date</a:t>
            </a:r>
          </a:p>
          <a:p>
            <a:pPr algn="r">
              <a:lnSpc>
                <a:spcPts val="2804"/>
              </a:lnSpc>
            </a:pPr>
            <a:r>
              <a:rPr lang="en-US" sz="1194">
                <a:solidFill>
                  <a:srgbClr val="5A6B7B"/>
                </a:solidFill>
                <a:latin typeface="Carlito"/>
                <a:ea typeface="Carlito"/>
                <a:cs typeface="Carlito"/>
                <a:sym typeface="Carlito"/>
              </a:rPr>
              <a:t>date numeric numeric timestamp timestamp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39"/>
                </a:lnSpc>
              </a:pPr>
              <a:r>
                <a:rPr lang="en-US" sz="57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Pipeline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0110" y="3909060"/>
            <a:ext cx="3566160" cy="2468880"/>
            <a:chOff x="0" y="0"/>
            <a:chExt cx="4754880" cy="3291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54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754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572000" y="0"/>
                  </a:lnTo>
                  <a:cubicBezTo>
                    <a:pt x="4672965" y="0"/>
                    <a:pt x="4754880" y="81915"/>
                    <a:pt x="4754880" y="182880"/>
                  </a:cubicBezTo>
                  <a:lnTo>
                    <a:pt x="4754880" y="3108960"/>
                  </a:lnTo>
                  <a:cubicBezTo>
                    <a:pt x="4754880" y="3209925"/>
                    <a:pt x="4672965" y="3291840"/>
                    <a:pt x="4572000" y="3291840"/>
                  </a:cubicBezTo>
                  <a:lnTo>
                    <a:pt x="182880" y="3291840"/>
                  </a:lnTo>
                  <a:cubicBezTo>
                    <a:pt x="81915" y="3291840"/>
                    <a:pt x="0" y="3209925"/>
                    <a:pt x="0" y="310896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80110" y="4320540"/>
            <a:ext cx="3566160" cy="822960"/>
            <a:chOff x="0" y="0"/>
            <a:chExt cx="475488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47548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Extract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0110" y="5212080"/>
            <a:ext cx="3566160" cy="1028700"/>
            <a:chOff x="0" y="0"/>
            <a:chExt cx="4754880" cy="137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48" r="0" b="-1754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75488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requests → raw JSON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542282" y="4924044"/>
            <a:ext cx="562356" cy="438912"/>
            <a:chOff x="0" y="0"/>
            <a:chExt cx="749808" cy="5852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9808" cy="585216"/>
            </a:xfrm>
            <a:custGeom>
              <a:avLst/>
              <a:gdLst/>
              <a:ahLst/>
              <a:cxnLst/>
              <a:rect r="r" b="b" t="t" l="l"/>
              <a:pathLst>
                <a:path h="585216" w="749808">
                  <a:moveTo>
                    <a:pt x="0" y="146304"/>
                  </a:moveTo>
                  <a:lnTo>
                    <a:pt x="457200" y="146304"/>
                  </a:lnTo>
                  <a:lnTo>
                    <a:pt x="457200" y="0"/>
                  </a:lnTo>
                  <a:lnTo>
                    <a:pt x="749808" y="292608"/>
                  </a:lnTo>
                  <a:lnTo>
                    <a:pt x="457200" y="585216"/>
                  </a:lnTo>
                  <a:lnTo>
                    <a:pt x="4572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B7BEE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200650" y="3909060"/>
            <a:ext cx="3566160" cy="2468880"/>
            <a:chOff x="0" y="0"/>
            <a:chExt cx="4754880" cy="3291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54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754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572000" y="0"/>
                  </a:lnTo>
                  <a:cubicBezTo>
                    <a:pt x="4672965" y="0"/>
                    <a:pt x="4754880" y="81915"/>
                    <a:pt x="4754880" y="182880"/>
                  </a:cubicBezTo>
                  <a:lnTo>
                    <a:pt x="4754880" y="3108960"/>
                  </a:lnTo>
                  <a:cubicBezTo>
                    <a:pt x="4754880" y="3209925"/>
                    <a:pt x="4672965" y="3291840"/>
                    <a:pt x="4572000" y="3291840"/>
                  </a:cubicBezTo>
                  <a:lnTo>
                    <a:pt x="182880" y="3291840"/>
                  </a:lnTo>
                  <a:cubicBezTo>
                    <a:pt x="81915" y="3291840"/>
                    <a:pt x="0" y="3209925"/>
                    <a:pt x="0" y="310896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200650" y="4320540"/>
            <a:ext cx="3566160" cy="822960"/>
            <a:chOff x="0" y="0"/>
            <a:chExt cx="475488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47548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Clean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200650" y="5212080"/>
            <a:ext cx="3566160" cy="1028700"/>
            <a:chOff x="0" y="0"/>
            <a:chExt cx="4754880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548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48" r="0" b="-1754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75488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pandas → cleaned CSV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862822" y="4924044"/>
            <a:ext cx="562356" cy="438912"/>
            <a:chOff x="0" y="0"/>
            <a:chExt cx="749808" cy="5852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9808" cy="585216"/>
            </a:xfrm>
            <a:custGeom>
              <a:avLst/>
              <a:gdLst/>
              <a:ahLst/>
              <a:cxnLst/>
              <a:rect r="r" b="b" t="t" l="l"/>
              <a:pathLst>
                <a:path h="585216" w="749808">
                  <a:moveTo>
                    <a:pt x="0" y="146304"/>
                  </a:moveTo>
                  <a:lnTo>
                    <a:pt x="457200" y="146304"/>
                  </a:lnTo>
                  <a:lnTo>
                    <a:pt x="457200" y="0"/>
                  </a:lnTo>
                  <a:lnTo>
                    <a:pt x="749808" y="292608"/>
                  </a:lnTo>
                  <a:lnTo>
                    <a:pt x="457200" y="585216"/>
                  </a:lnTo>
                  <a:lnTo>
                    <a:pt x="4572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B7BEE6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521190" y="3909060"/>
            <a:ext cx="3566160" cy="2468880"/>
            <a:chOff x="0" y="0"/>
            <a:chExt cx="4754880" cy="3291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54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754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572000" y="0"/>
                  </a:lnTo>
                  <a:cubicBezTo>
                    <a:pt x="4672965" y="0"/>
                    <a:pt x="4754880" y="81915"/>
                    <a:pt x="4754880" y="182880"/>
                  </a:cubicBezTo>
                  <a:lnTo>
                    <a:pt x="4754880" y="3108960"/>
                  </a:lnTo>
                  <a:cubicBezTo>
                    <a:pt x="4754880" y="3209925"/>
                    <a:pt x="4672965" y="3291840"/>
                    <a:pt x="4572000" y="3291840"/>
                  </a:cubicBezTo>
                  <a:lnTo>
                    <a:pt x="182880" y="3291840"/>
                  </a:lnTo>
                  <a:cubicBezTo>
                    <a:pt x="81915" y="3291840"/>
                    <a:pt x="0" y="3209925"/>
                    <a:pt x="0" y="310896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521190" y="4320540"/>
            <a:ext cx="3566160" cy="822960"/>
            <a:chOff x="0" y="0"/>
            <a:chExt cx="475488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47548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Load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21190" y="5212080"/>
            <a:ext cx="3566160" cy="1028700"/>
            <a:chOff x="0" y="0"/>
            <a:chExt cx="4754880" cy="1371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548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48" r="0" b="-1754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475488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psycopg → PostgreSQL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183362" y="4924044"/>
            <a:ext cx="562356" cy="438912"/>
            <a:chOff x="0" y="0"/>
            <a:chExt cx="749808" cy="5852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49808" cy="585216"/>
            </a:xfrm>
            <a:custGeom>
              <a:avLst/>
              <a:gdLst/>
              <a:ahLst/>
              <a:cxnLst/>
              <a:rect r="r" b="b" t="t" l="l"/>
              <a:pathLst>
                <a:path h="585216" w="749808">
                  <a:moveTo>
                    <a:pt x="0" y="146304"/>
                  </a:moveTo>
                  <a:lnTo>
                    <a:pt x="457200" y="146304"/>
                  </a:lnTo>
                  <a:lnTo>
                    <a:pt x="457200" y="0"/>
                  </a:lnTo>
                  <a:lnTo>
                    <a:pt x="749808" y="292608"/>
                  </a:lnTo>
                  <a:lnTo>
                    <a:pt x="457200" y="585216"/>
                  </a:lnTo>
                  <a:lnTo>
                    <a:pt x="4572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B7BEE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841730" y="3909060"/>
            <a:ext cx="3566160" cy="2468880"/>
            <a:chOff x="0" y="0"/>
            <a:chExt cx="4754880" cy="3291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5488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754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572000" y="0"/>
                  </a:lnTo>
                  <a:cubicBezTo>
                    <a:pt x="4672965" y="0"/>
                    <a:pt x="4754880" y="81915"/>
                    <a:pt x="4754880" y="182880"/>
                  </a:cubicBezTo>
                  <a:lnTo>
                    <a:pt x="4754880" y="3108960"/>
                  </a:lnTo>
                  <a:cubicBezTo>
                    <a:pt x="4754880" y="3209925"/>
                    <a:pt x="4672965" y="3291840"/>
                    <a:pt x="4572000" y="3291840"/>
                  </a:cubicBezTo>
                  <a:lnTo>
                    <a:pt x="182880" y="3291840"/>
                  </a:lnTo>
                  <a:cubicBezTo>
                    <a:pt x="81915" y="3291840"/>
                    <a:pt x="0" y="3209925"/>
                    <a:pt x="0" y="310896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841730" y="4320540"/>
            <a:ext cx="3566160" cy="822960"/>
            <a:chOff x="0" y="0"/>
            <a:chExt cx="475488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7548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Analyze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841730" y="5212080"/>
            <a:ext cx="3566160" cy="1028700"/>
            <a:chOff x="0" y="0"/>
            <a:chExt cx="4754880" cy="1371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7548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48" r="0" b="-1754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4754880" cy="1419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CADC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 → 7 queries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514705"/>
            <a:ext cx="12225634" cy="2445127"/>
          </a:xfrm>
          <a:custGeom>
            <a:avLst/>
            <a:gdLst/>
            <a:ahLst/>
            <a:cxnLst/>
            <a:rect r="r" b="b" t="t" l="l"/>
            <a:pathLst>
              <a:path h="2445127" w="12225634">
                <a:moveTo>
                  <a:pt x="0" y="0"/>
                </a:moveTo>
                <a:lnTo>
                  <a:pt x="12225634" y="0"/>
                </a:lnTo>
                <a:lnTo>
                  <a:pt x="12225634" y="2445127"/>
                </a:lnTo>
                <a:lnTo>
                  <a:pt x="0" y="244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33666" y="6606416"/>
            <a:ext cx="12225634" cy="2651884"/>
          </a:xfrm>
          <a:custGeom>
            <a:avLst/>
            <a:gdLst/>
            <a:ahLst/>
            <a:cxnLst/>
            <a:rect r="r" b="b" t="t" l="l"/>
            <a:pathLst>
              <a:path h="2651884" w="12225634">
                <a:moveTo>
                  <a:pt x="0" y="0"/>
                </a:moveTo>
                <a:lnTo>
                  <a:pt x="12225634" y="0"/>
                </a:lnTo>
                <a:lnTo>
                  <a:pt x="12225634" y="2651884"/>
                </a:lnTo>
                <a:lnTo>
                  <a:pt x="0" y="2651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14400"/>
            <a:ext cx="3452366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sz="57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Extr</a:t>
            </a:r>
            <a:r>
              <a:rPr lang="en-US" b="true" sz="57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078797" y="3262924"/>
            <a:ext cx="2353791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Historical 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85404" y="7661848"/>
            <a:ext cx="2138958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Forecast Data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08967"/>
            <a:ext cx="16230600" cy="7658814"/>
          </a:xfrm>
          <a:custGeom>
            <a:avLst/>
            <a:gdLst/>
            <a:ahLst/>
            <a:cxnLst/>
            <a:rect r="r" b="b" t="t" l="l"/>
            <a:pathLst>
              <a:path h="7658814" w="16230600">
                <a:moveTo>
                  <a:pt x="0" y="0"/>
                </a:moveTo>
                <a:lnTo>
                  <a:pt x="16230600" y="0"/>
                </a:lnTo>
                <a:lnTo>
                  <a:pt x="16230600" y="7658815"/>
                </a:lnTo>
                <a:lnTo>
                  <a:pt x="0" y="7658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1623060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Profile + Clean (historical data)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1514" y="2266278"/>
            <a:ext cx="16017786" cy="7618460"/>
          </a:xfrm>
          <a:custGeom>
            <a:avLst/>
            <a:gdLst/>
            <a:ahLst/>
            <a:cxnLst/>
            <a:rect r="r" b="b" t="t" l="l"/>
            <a:pathLst>
              <a:path h="7618460" w="16017786">
                <a:moveTo>
                  <a:pt x="0" y="0"/>
                </a:moveTo>
                <a:lnTo>
                  <a:pt x="16017786" y="0"/>
                </a:lnTo>
                <a:lnTo>
                  <a:pt x="16017786" y="7618460"/>
                </a:lnTo>
                <a:lnTo>
                  <a:pt x="0" y="7618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1623060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0"/>
              </a:lnSpc>
            </a:pPr>
            <a:r>
              <a:rPr lang="en-US" sz="57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Profile + Clean (forecast data)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501899"/>
            <a:ext cx="11915130" cy="2044608"/>
          </a:xfrm>
          <a:custGeom>
            <a:avLst/>
            <a:gdLst/>
            <a:ahLst/>
            <a:cxnLst/>
            <a:rect r="r" b="b" t="t" l="l"/>
            <a:pathLst>
              <a:path h="2044608" w="11915130">
                <a:moveTo>
                  <a:pt x="0" y="0"/>
                </a:moveTo>
                <a:lnTo>
                  <a:pt x="11915130" y="0"/>
                </a:lnTo>
                <a:lnTo>
                  <a:pt x="11915130" y="2044608"/>
                </a:lnTo>
                <a:lnTo>
                  <a:pt x="0" y="2044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4972794"/>
            <a:ext cx="5957565" cy="2964485"/>
          </a:xfrm>
          <a:custGeom>
            <a:avLst/>
            <a:gdLst/>
            <a:ahLst/>
            <a:cxnLst/>
            <a:rect r="r" b="b" t="t" l="l"/>
            <a:pathLst>
              <a:path h="2964485" w="5957565">
                <a:moveTo>
                  <a:pt x="0" y="0"/>
                </a:moveTo>
                <a:lnTo>
                  <a:pt x="5957565" y="0"/>
                </a:lnTo>
                <a:lnTo>
                  <a:pt x="5957565" y="2964485"/>
                </a:lnTo>
                <a:lnTo>
                  <a:pt x="0" y="29644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7311" r="-308709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14400"/>
            <a:ext cx="3452366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sz="57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Extr</a:t>
            </a:r>
            <a:r>
              <a:rPr lang="en-US" b="true" sz="57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077056"/>
            <a:ext cx="13338897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psql -U postgres -h localhost -d weather_db -c "SELECT city_name, COUNT(*) FROM weather_analytics.weather w JOIN weather_analytics.cities c ON c.city_id = w.city_id GROUP BY city_name;"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14400"/>
            <a:ext cx="739668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sz="5700" b="true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Analyze (SQL Queries)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36947"/>
            <a:ext cx="8528745" cy="471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3586" indent="-411793" lvl="1">
              <a:lnSpc>
                <a:spcPts val="7629"/>
              </a:lnSpc>
              <a:buAutoNum type="arabicPeriod" startAt="1"/>
            </a:pPr>
            <a:r>
              <a:rPr lang="en-US" sz="381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Highest temperature per city</a:t>
            </a:r>
          </a:p>
          <a:p>
            <a:pPr algn="l" marL="823586" indent="-411793" lvl="1">
              <a:lnSpc>
                <a:spcPts val="7629"/>
              </a:lnSpc>
              <a:buAutoNum type="arabicPeriod" startAt="1"/>
            </a:pPr>
            <a:r>
              <a:rPr lang="en-US" sz="381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Hottest month per city</a:t>
            </a:r>
          </a:p>
          <a:p>
            <a:pPr algn="l" marL="823586" indent="-411793" lvl="1">
              <a:lnSpc>
                <a:spcPts val="7629"/>
              </a:lnSpc>
              <a:buAutoNum type="arabicPeriod" startAt="1"/>
            </a:pPr>
            <a:r>
              <a:rPr lang="en-US" sz="381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Extreme heat &amp; freezing days per city</a:t>
            </a:r>
          </a:p>
          <a:p>
            <a:pPr algn="l" marL="823586" indent="-411793" lvl="1">
              <a:lnSpc>
                <a:spcPts val="7629"/>
              </a:lnSpc>
              <a:buAutoNum type="arabicPeriod" startAt="1"/>
            </a:pPr>
            <a:r>
              <a:rPr lang="en-US" sz="381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Windiest week of the year</a:t>
            </a:r>
          </a:p>
          <a:p>
            <a:pPr algn="l" marL="823586" indent="-411793" lvl="1">
              <a:lnSpc>
                <a:spcPts val="7629"/>
              </a:lnSpc>
              <a:buAutoNum type="arabicPeriod" startAt="1"/>
            </a:pPr>
            <a:r>
              <a:rPr lang="en-US" sz="381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Average rainfall per 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DAHO9BF-_vM</dc:identifier>
  <dcterms:modified xsi:type="dcterms:W3CDTF">2011-08-01T06:04:30Z</dcterms:modified>
  <cp:revision>1</cp:revision>
  <dc:title>Weather Analytics</dc:title>
</cp:coreProperties>
</file>